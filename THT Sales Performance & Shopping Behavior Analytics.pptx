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Space Mono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E31E2F-926A-4A0E-BF68-B151A26C92CA}">
  <a:tblStyle styleId="{2FE31E2F-926A-4A0E-BF68-B151A26C92C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Mono-regular.fntdata"/><Relationship Id="rId22" Type="http://schemas.openxmlformats.org/officeDocument/2006/relationships/font" Target="fonts/SpaceMono-italic.fntdata"/><Relationship Id="rId21" Type="http://schemas.openxmlformats.org/officeDocument/2006/relationships/font" Target="fonts/SpaceMono-bold.fntdata"/><Relationship Id="rId24" Type="http://schemas.openxmlformats.org/officeDocument/2006/relationships/font" Target="fonts/DMSans-regular.fntdata"/><Relationship Id="rId23" Type="http://schemas.openxmlformats.org/officeDocument/2006/relationships/font" Target="fonts/Space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438650"/>
            <a:ext cx="6858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2000250"/>
            <a:ext cx="11430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59E0B"/>
                </a:solidFill>
                <a:latin typeface="Space Mono"/>
                <a:ea typeface="Space Mono"/>
                <a:cs typeface="Space Mono"/>
                <a:sym typeface="Space Mono"/>
              </a:rPr>
              <a:t>Take Home Test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400300"/>
            <a:ext cx="91011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Sales Performance &amp; Shopping Behavior Analytics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609600" y="4657725"/>
            <a:ext cx="9906000" cy="981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609600" y="4657725"/>
            <a:ext cx="9906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171700"/>
            <a:ext cx="99060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01 / PROBLEM STATEMENT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09600" y="733425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The Core Business Challenge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09600" y="2857500"/>
            <a:ext cx="10001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Deploy targeted promotions precisely when and where customers are most active and focusing ad placements on high value tech categories and peak shopping hours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609600" y="1633538"/>
            <a:ext cx="2571900" cy="933600"/>
          </a:xfrm>
          <a:prstGeom prst="roundRect">
            <a:avLst>
              <a:gd fmla="val 1224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3409950" y="1633538"/>
            <a:ext cx="2571900" cy="933600"/>
          </a:xfrm>
          <a:prstGeom prst="roundRect">
            <a:avLst>
              <a:gd fmla="val 1224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" name="Google Shape;103;p15"/>
          <p:cNvGraphicFramePr/>
          <p:nvPr/>
        </p:nvGraphicFramePr>
        <p:xfrm>
          <a:off x="609600" y="301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{2FE31E2F-926A-4A0E-BF68-B151A26C92CA}</a:tableStyleId>
              </a:tblPr>
              <a:tblGrid>
                <a:gridCol w="4421825"/>
                <a:gridCol w="1549450"/>
                <a:gridCol w="5001525"/>
              </a:tblGrid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Column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Business Context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User_id / Session_id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Unique customer and session identifiers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DateTime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DateTime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Activity timestamp (Jan 1 – Dec 22, 2019)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Category / SubCategory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 (e.g., Tablets → iPad)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 user actions from search to purchase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Quantity / Rate / Total Price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 / Float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Populated on 201 completed purchase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15"/>
          <p:cNvSpPr txBox="1"/>
          <p:nvPr/>
        </p:nvSpPr>
        <p:spPr>
          <a:xfrm>
            <a:off x="609600" y="457200"/>
            <a:ext cx="1106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</a:t>
            </a:r>
            <a:r>
              <a:rPr lang="en-US" sz="1050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1</a:t>
            </a: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 / DATASET OVERVIEW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09600" y="73342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Dataset Scope &amp; Schema 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38200" y="1785938"/>
            <a:ext cx="2643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2,090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38200" y="2214563"/>
            <a:ext cx="26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Activity Logs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3638550" y="1785938"/>
            <a:ext cx="2643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401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3638550" y="2214563"/>
            <a:ext cx="26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Unique Users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609600" y="2814637"/>
            <a:ext cx="3454449" cy="2181225"/>
          </a:xfrm>
          <a:prstGeom prst="roundRect">
            <a:avLst>
              <a:gd fmla="val 698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4368849" y="2814637"/>
            <a:ext cx="3454449" cy="2181225"/>
          </a:xfrm>
          <a:prstGeom prst="roundRect">
            <a:avLst>
              <a:gd fmla="val 698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8128099" y="2814637"/>
            <a:ext cx="3454449" cy="2181225"/>
          </a:xfrm>
          <a:prstGeom prst="roundRect">
            <a:avLst>
              <a:gd fmla="val 698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1956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649" y="31956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2899" y="31956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01 / OBJECTIVES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09600" y="733425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Analysis Goals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14400" y="3729037"/>
            <a:ext cx="37338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Behavioral Trends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14400" y="4138612"/>
            <a:ext cx="29400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Map activity across hours and weekdays.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73649" y="3729037"/>
            <a:ext cx="37338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Revenue Drivers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73649" y="4138612"/>
            <a:ext cx="2940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Pinpoint top</a:t>
            </a:r>
            <a:r>
              <a:rPr lang="en-US" sz="142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earning product categories.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32899" y="3729037"/>
            <a:ext cx="37338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Actionable Strategy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32899" y="4138612"/>
            <a:ext cx="29400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Guide inventory and campaign timing.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609600" y="2833687"/>
            <a:ext cx="2250281" cy="2143125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3517106" y="2947987"/>
            <a:ext cx="2250281" cy="1914525"/>
          </a:xfrm>
          <a:prstGeom prst="roundRect">
            <a:avLst>
              <a:gd fmla="val 59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6424612" y="2833687"/>
            <a:ext cx="2250281" cy="2143125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9332118" y="2833687"/>
            <a:ext cx="2250281" cy="2143125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8481" y="37909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5987" y="37909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3493" y="37909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02 / DATA PREPROCESSING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09600" y="733425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Data Cleaning Workflow in Google Colab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38200" y="3138487"/>
            <a:ext cx="224135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01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38200" y="3643312"/>
            <a:ext cx="23534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Zero Imputation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38200" y="3986212"/>
            <a:ext cx="188833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Filled 1,889 non-purchase rows with zero.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3745706" y="3252787"/>
            <a:ext cx="224135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02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3745706" y="3757612"/>
            <a:ext cx="23534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Typo Resolution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3745706" y="4100512"/>
            <a:ext cx="18883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Unified 10 actions across 102 categories.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653212" y="3138487"/>
            <a:ext cx="224135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653212" y="3643312"/>
            <a:ext cx="23534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Time Features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653212" y="3986212"/>
            <a:ext cx="188833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Extracted Date, Month, DayOfWeek, Hour.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560718" y="3138487"/>
            <a:ext cx="224135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560718" y="3643312"/>
            <a:ext cx="23534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Outlier Flagging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560718" y="3986212"/>
            <a:ext cx="188833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Tagged 29 orders above 18,500 IQR bound.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3203525" y="3429000"/>
            <a:ext cx="19050" cy="952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991076" y="3429000"/>
            <a:ext cx="19050" cy="952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9016751" y="3429000"/>
            <a:ext cx="19050" cy="952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03 / EXPLORATORY DATA ANALYSIS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09600" y="733425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Dataset &amp; Executive KPIs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62000" y="3152775"/>
            <a:ext cx="2381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1.90M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62000" y="4171950"/>
            <a:ext cx="2381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Total Revenue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762000" y="4457700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Displayed as 2M on BI Card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3759100" y="3152775"/>
            <a:ext cx="2119312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401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3759100" y="4171950"/>
            <a:ext cx="21193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Unique Users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3759100" y="4457700"/>
            <a:ext cx="2119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Across 2,090 log events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546651" y="3152775"/>
            <a:ext cx="241696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596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546651" y="4171950"/>
            <a:ext cx="241696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Items Sold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546651" y="4457700"/>
            <a:ext cx="2416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From 201 completed orders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572327" y="3152775"/>
            <a:ext cx="232171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9,455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572327" y="4171950"/>
            <a:ext cx="23217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Purchase AOV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572327" y="4457700"/>
            <a:ext cx="23217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909.34 across all sessions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6086475" y="2381250"/>
            <a:ext cx="19050" cy="304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03 / EXPLORATORY DATA ANALYSIS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09600" y="73342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Normal vs. High</a:t>
            </a:r>
            <a:r>
              <a:rPr b="1" lang="en-US" sz="27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Value Order Comparison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09600" y="2905125"/>
            <a:ext cx="638829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Normal Orders (≤ 18,500)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715125" y="2905125"/>
            <a:ext cx="5476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High-Value Outliers (&gt; 18,500)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09600" y="3457575"/>
            <a:ext cx="60840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Order Volume: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172 transactions (85.6% share).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09600" y="3857625"/>
            <a:ext cx="60840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Total Revenue: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612,130 (32.2% share).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09600" y="4257675"/>
            <a:ext cx="60840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Segment Mean: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3,559 per transaction.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09600" y="4657725"/>
            <a:ext cx="60840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Overall Median: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2,500 across all purchases.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715125" y="3457575"/>
            <a:ext cx="547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Order Volume: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29 transactions (14.4% share).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15125" y="3857625"/>
            <a:ext cx="547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Total Revenue: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1,288,400 (67.8% share).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715125" y="4257675"/>
            <a:ext cx="547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Segment Mean: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44,428 per transaction.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715125" y="4657725"/>
            <a:ext cx="547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Max Purchase: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160,000 (2 units of iPad).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03 / EXPLORATORY DATA ANALYSIS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09600" y="733425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Top 5 Product Categories by Revenue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/>
          <p:nvPr/>
        </p:nvSpPr>
        <p:spPr>
          <a:xfrm>
            <a:off x="609600" y="2462212"/>
            <a:ext cx="5638800" cy="2886075"/>
          </a:xfrm>
          <a:prstGeom prst="roundRect">
            <a:avLst>
              <a:gd fmla="val 528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04 / INSIGHTS &amp; INTERPRETATION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09600" y="733425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Peak Transaction Windows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066800" y="2919412"/>
            <a:ext cx="481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PRIMARY PEAK HOUR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1066800" y="3262312"/>
            <a:ext cx="590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15:00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1066800" y="4291012"/>
            <a:ext cx="5905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412,950 Total Revenue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066800" y="4662487"/>
            <a:ext cx="590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Highest afternoon checkout surge.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858000" y="2724150"/>
            <a:ext cx="5334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14:00 Early Afternoon Surge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858000" y="309562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Generates 232,250 as momentum builds.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858000" y="3600450"/>
            <a:ext cx="5334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19:00 Evening Rebound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858000" y="397192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Second major spike reaching 301,300 post-work.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858000" y="4476750"/>
            <a:ext cx="5334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21:00 Nighttime Wave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858000" y="484822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Late browsing session contributing 190,910.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" name="Google Shape;219;p22"/>
          <p:cNvGraphicFramePr/>
          <p:nvPr/>
        </p:nvGraphicFramePr>
        <p:xfrm>
          <a:off x="609600" y="188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{2FE31E2F-926A-4A0E-BF68-B151A26C92CA}</a:tableStyleId>
              </a:tblPr>
              <a:tblGrid>
                <a:gridCol w="2996650"/>
                <a:gridCol w="1937150"/>
                <a:gridCol w="2936075"/>
                <a:gridCol w="3102925"/>
              </a:tblGrid>
              <a:tr h="57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 Action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Sessions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Day of Week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 Activity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284C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read_reviews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365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Monday (Peak)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536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320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Wednesday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356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product_view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Thursday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341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add_to_cart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Friday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checkout / wishlist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202 each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Tuesday / Sunday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231 / 209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purchase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284C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64748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Saturday (Lowest)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64748B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142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22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04 / INSIGHTS &amp; INTERPRETATION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09600" y="733425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User Action &amp; Weekly Traffic Breakdown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/>
          <p:nvPr/>
        </p:nvSpPr>
        <p:spPr>
          <a:xfrm>
            <a:off x="9034164" y="1866900"/>
            <a:ext cx="2548235" cy="11430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9034164" y="3200400"/>
            <a:ext cx="2548235" cy="1371600"/>
          </a:xfrm>
          <a:prstGeom prst="roundRect">
            <a:avLst>
              <a:gd fmla="val 8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9034164" y="4762500"/>
            <a:ext cx="2548235" cy="11430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09700"/>
            <a:ext cx="8119764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title="Screenshot 2026-10-24 170510.png"/>
          <p:cNvPicPr preferRelativeResize="0"/>
          <p:nvPr/>
        </p:nvPicPr>
        <p:blipFill rotWithShape="1">
          <a:blip r:embed="rId4">
            <a:alphaModFix/>
          </a:blip>
          <a:srcRect b="0" l="2839" r="2830" t="0"/>
          <a:stretch/>
        </p:blipFill>
        <p:spPr>
          <a:xfrm>
            <a:off x="723900" y="1524000"/>
            <a:ext cx="7891163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05 / DASHBOARD IMPLEMENTATION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609600" y="733425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Interactive Power BI Executive Dashboard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224664" y="2057400"/>
            <a:ext cx="284449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4 KPI Scorecards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224664" y="2362200"/>
            <a:ext cx="226248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Instant snapshot of Revenue, AOV, Users, Items.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9224664" y="3390900"/>
            <a:ext cx="284449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4 Core Visuals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9224664" y="3695700"/>
            <a:ext cx="22624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Category revenue, hourly trend, weekday traffic, actions.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9224664" y="4953000"/>
            <a:ext cx="284449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Category Slicer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9224664" y="5257800"/>
            <a:ext cx="226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Dynamic drill</a:t>
            </a:r>
            <a:r>
              <a:rPr lang="en-US" sz="13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down across all 102 product categories.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/>
          <p:nvPr/>
        </p:nvSpPr>
        <p:spPr>
          <a:xfrm>
            <a:off x="609600" y="2466975"/>
            <a:ext cx="5372100" cy="1323975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609600" y="457200"/>
            <a:ext cx="1106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284C7"/>
                </a:solidFill>
                <a:latin typeface="Space Mono"/>
                <a:ea typeface="Space Mono"/>
                <a:cs typeface="Space Mono"/>
                <a:sym typeface="Space Mono"/>
              </a:rPr>
              <a:t>Documentation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609600" y="73342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Documentation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1371600" y="2733675"/>
            <a:ext cx="570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Colab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1371600" y="3067050"/>
            <a:ext cx="443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https://colab.research.google.com/drive/1vrwaO7pj2wUhBHDFumh0hdNKo4Om43tp?usp=sharing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/>
          <p:nvPr/>
        </p:nvSpPr>
        <p:spPr>
          <a:xfrm>
            <a:off x="5791200" y="3733537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4851796" y="2290762"/>
            <a:ext cx="248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2664321" y="2652712"/>
            <a:ext cx="686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